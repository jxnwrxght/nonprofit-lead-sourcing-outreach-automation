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5" roundtripDataSignature="AMtx7mj3recoYkcfZR91xQAmTu2DoZ3r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5" name="Google Shape;25;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body"/>
          </p:nvPr>
        </p:nvSpPr>
        <p:spPr>
          <a:xfrm>
            <a:off x="1107450" y="3719025"/>
            <a:ext cx="6929100" cy="1015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r>
              <a:rPr i="1" lang="en-US" sz="2600">
                <a:solidFill>
                  <a:schemeClr val="dk1"/>
                </a:solidFill>
                <a:latin typeface="Calibri"/>
                <a:ea typeface="Calibri"/>
                <a:cs typeface="Calibri"/>
                <a:sym typeface="Calibri"/>
              </a:rPr>
              <a:t>Operational leverage through measured AI-assisted workflow optimization</a:t>
            </a:r>
            <a:endParaRPr i="1" sz="2600"/>
          </a:p>
        </p:txBody>
      </p:sp>
      <p:sp>
        <p:nvSpPr>
          <p:cNvPr id="85" name="Google Shape;85;p1"/>
          <p:cNvSpPr txBox="1"/>
          <p:nvPr>
            <p:ph type="title"/>
          </p:nvPr>
        </p:nvSpPr>
        <p:spPr>
          <a:xfrm>
            <a:off x="385675" y="2042863"/>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25316"/>
              <a:buFont typeface="Calibri"/>
              <a:buNone/>
            </a:pPr>
            <a:r>
              <a:rPr lang="en-US" sz="3511"/>
              <a:t>Applied </a:t>
            </a:r>
            <a:r>
              <a:rPr lang="en-US" sz="3511">
                <a:solidFill>
                  <a:schemeClr val="dk1"/>
                </a:solidFill>
                <a:latin typeface="Calibri"/>
                <a:ea typeface="Calibri"/>
                <a:cs typeface="Calibri"/>
                <a:sym typeface="Calibri"/>
              </a:rPr>
              <a:t>AI Operations Case Study:</a:t>
            </a:r>
            <a:endParaRPr sz="3511"/>
          </a:p>
          <a:p>
            <a:pPr indent="0" lvl="0" marL="0" rtl="0" algn="ctr">
              <a:spcBef>
                <a:spcPts val="0"/>
              </a:spcBef>
              <a:spcAft>
                <a:spcPts val="0"/>
              </a:spcAft>
              <a:buClr>
                <a:schemeClr val="dk1"/>
              </a:buClr>
              <a:buSzPct val="114450"/>
              <a:buFont typeface="Calibri"/>
              <a:buNone/>
            </a:pPr>
            <a:r>
              <a:rPr b="1" lang="en-US" sz="3844">
                <a:solidFill>
                  <a:schemeClr val="dk1"/>
                </a:solidFill>
              </a:rPr>
              <a:t>Community Donation Outreach Automation</a:t>
            </a:r>
            <a:endParaRPr b="1" sz="3844"/>
          </a:p>
        </p:txBody>
      </p:sp>
      <p:sp>
        <p:nvSpPr>
          <p:cNvPr id="86" name="Google Shape;86;p1"/>
          <p:cNvSpPr/>
          <p:nvPr/>
        </p:nvSpPr>
        <p:spPr>
          <a:xfrm>
            <a:off x="0" y="0"/>
            <a:ext cx="9144000" cy="274320"/>
          </a:xfrm>
          <a:prstGeom prst="rect">
            <a:avLst/>
          </a:prstGeom>
          <a:solidFill>
            <a:srgbClr val="1E3A8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Two years ago, I founded a community outreach initiative called </a:t>
            </a:r>
            <a:r>
              <a:rPr b="1" lang="en-US" sz="1800">
                <a:latin typeface="Arial"/>
                <a:ea typeface="Arial"/>
                <a:cs typeface="Arial"/>
                <a:sym typeface="Arial"/>
              </a:rPr>
              <a:t>Community Healing Zone</a:t>
            </a:r>
            <a:r>
              <a:rPr lang="en-US" sz="1800">
                <a:latin typeface="Arial"/>
                <a:ea typeface="Arial"/>
                <a:cs typeface="Arial"/>
                <a:sym typeface="Arial"/>
              </a:rPr>
              <a:t>. It began through friends, family, and informal networks, with clothing and essential supply donations coming in steadily as we organized monthly events to take care of the homeless in my city.</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Over time, donations began arriving faster than we could distribute them, and we ran out of storage space. It became clear that relying on personal networks alone wouldn’t scale the impact we wanted.</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Churches felt like the natural next step for partnerships — but reaching out to them manually would take far too long.</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Could AI increase outreach throughput without sacrificing personalization and quality?</a:t>
            </a:r>
            <a:endParaRPr b="1" sz="1800">
              <a:latin typeface="Arial"/>
              <a:ea typeface="Arial"/>
              <a:cs typeface="Arial"/>
              <a:sym typeface="Arial"/>
            </a:endParaRPr>
          </a:p>
          <a:p>
            <a:pPr indent="0" lvl="0" marL="0" rtl="0" algn="l">
              <a:spcBef>
                <a:spcPts val="1200"/>
              </a:spcBef>
              <a:spcAft>
                <a:spcPts val="0"/>
              </a:spcAft>
              <a:buNone/>
            </a:pPr>
            <a:r>
              <a:t/>
            </a:r>
            <a:endParaRPr sz="2500">
              <a:latin typeface="Arial"/>
              <a:ea typeface="Arial"/>
              <a:cs typeface="Arial"/>
              <a:sym typeface="Arial"/>
            </a:endParaRPr>
          </a:p>
        </p:txBody>
      </p:sp>
      <p:sp>
        <p:nvSpPr>
          <p:cNvPr id="92" name="Google Shape;92;p2"/>
          <p:cNvSpPr txBox="1"/>
          <p:nvPr>
            <p:ph type="title"/>
          </p:nvPr>
        </p:nvSpPr>
        <p:spPr>
          <a:xfrm>
            <a:off x="0" y="365751"/>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Background &amp; Scaling Constraint</a:t>
            </a:r>
            <a:endParaRPr/>
          </a:p>
        </p:txBody>
      </p:sp>
      <p:sp>
        <p:nvSpPr>
          <p:cNvPr id="93" name="Google Shape;93;p2"/>
          <p:cNvSpPr/>
          <p:nvPr/>
        </p:nvSpPr>
        <p:spPr>
          <a:xfrm>
            <a:off x="0" y="0"/>
            <a:ext cx="9144000" cy="274320"/>
          </a:xfrm>
          <a:prstGeom prst="rect">
            <a:avLst/>
          </a:prstGeom>
          <a:solidFill>
            <a:srgbClr val="1E3A8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0" y="6141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Manual Baseline Performance</a:t>
            </a:r>
            <a:endParaRPr/>
          </a:p>
        </p:txBody>
      </p:sp>
      <p:sp>
        <p:nvSpPr>
          <p:cNvPr id="99" name="Google Shape;99;p3"/>
          <p:cNvSpPr txBox="1"/>
          <p:nvPr>
            <p:ph idx="1" type="body"/>
          </p:nvPr>
        </p:nvSpPr>
        <p:spPr>
          <a:xfrm>
            <a:off x="457200" y="2279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Average Time per Lead: </a:t>
            </a:r>
            <a:r>
              <a:rPr b="1" lang="en-US" sz="3200">
                <a:solidFill>
                  <a:schemeClr val="dk1"/>
                </a:solidFill>
              </a:rPr>
              <a:t>7m 48s</a:t>
            </a:r>
            <a:r>
              <a:rPr b="1" lang="en-US" sz="3200">
                <a:solidFill>
                  <a:schemeClr val="dk1"/>
                </a:solidFill>
              </a:rPr>
              <a:t> </a:t>
            </a:r>
            <a:r>
              <a:rPr lang="en-US" sz="3200">
                <a:solidFill>
                  <a:schemeClr val="dk1"/>
                </a:solidFill>
                <a:latin typeface="Calibri"/>
                <a:ea typeface="Calibri"/>
                <a:cs typeface="Calibri"/>
                <a:sym typeface="Calibri"/>
              </a:rPr>
              <a:t>(468 sec)</a:t>
            </a:r>
            <a:endParaRPr/>
          </a:p>
          <a:p>
            <a:pPr indent="0" lvl="0" marL="742950" rtl="0" algn="l">
              <a:spcBef>
                <a:spcPts val="560"/>
              </a:spcBef>
              <a:spcAft>
                <a:spcPts val="0"/>
              </a:spcAft>
              <a:buNone/>
            </a:pPr>
            <a:r>
              <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Leads per Hour: </a:t>
            </a:r>
            <a:r>
              <a:rPr b="1" lang="en-US" sz="2800">
                <a:solidFill>
                  <a:schemeClr val="dk1"/>
                </a:solidFill>
              </a:rPr>
              <a:t>7.69</a:t>
            </a:r>
            <a:endParaRPr b="1"/>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Workflow required full manual scanning, drafting, and logging.</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Primary friction:</a:t>
            </a:r>
            <a:r>
              <a:rPr lang="en-US" sz="2800">
                <a:solidFill>
                  <a:schemeClr val="dk1"/>
                </a:solidFill>
                <a:latin typeface="Calibri"/>
                <a:ea typeface="Calibri"/>
                <a:cs typeface="Calibri"/>
                <a:sym typeface="Calibri"/>
              </a:rPr>
              <a:t> </a:t>
            </a:r>
            <a:r>
              <a:rPr b="1" lang="en-US" sz="2800">
                <a:solidFill>
                  <a:schemeClr val="dk1"/>
                </a:solidFill>
              </a:rPr>
              <a:t>cognitive load + drafting time</a:t>
            </a:r>
            <a:endParaRPr b="1"/>
          </a:p>
        </p:txBody>
      </p:sp>
      <p:sp>
        <p:nvSpPr>
          <p:cNvPr id="100" name="Google Shape;100;p3"/>
          <p:cNvSpPr/>
          <p:nvPr/>
        </p:nvSpPr>
        <p:spPr>
          <a:xfrm>
            <a:off x="0" y="0"/>
            <a:ext cx="9144000" cy="274320"/>
          </a:xfrm>
          <a:prstGeom prst="rect">
            <a:avLst/>
          </a:prstGeom>
          <a:solidFill>
            <a:srgbClr val="1E3A8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ph type="title"/>
          </p:nvPr>
        </p:nvSpPr>
        <p:spPr>
          <a:xfrm>
            <a:off x="457200" y="77448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AI-Assisted Workflow Performance</a:t>
            </a:r>
            <a:endParaRPr/>
          </a:p>
        </p:txBody>
      </p:sp>
      <p:sp>
        <p:nvSpPr>
          <p:cNvPr id="106" name="Google Shape;106;p4"/>
          <p:cNvSpPr txBox="1"/>
          <p:nvPr>
            <p:ph idx="1" type="body"/>
          </p:nvPr>
        </p:nvSpPr>
        <p:spPr>
          <a:xfrm>
            <a:off x="457200" y="2332025"/>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Average Time per Lead: </a:t>
            </a:r>
            <a:r>
              <a:rPr b="1" lang="en-US" sz="3200">
                <a:solidFill>
                  <a:schemeClr val="dk1"/>
                </a:solidFill>
              </a:rPr>
              <a:t>4m 13s</a:t>
            </a:r>
            <a:r>
              <a:rPr lang="en-US" sz="3200">
                <a:solidFill>
                  <a:schemeClr val="dk1"/>
                </a:solidFill>
                <a:latin typeface="Calibri"/>
                <a:ea typeface="Calibri"/>
                <a:cs typeface="Calibri"/>
                <a:sym typeface="Calibri"/>
              </a:rPr>
              <a:t> (253 sec)</a:t>
            </a:r>
            <a:endParaRPr/>
          </a:p>
          <a:p>
            <a:pPr indent="0" lvl="0" marL="742950" rtl="0" algn="l">
              <a:spcBef>
                <a:spcPts val="560"/>
              </a:spcBef>
              <a:spcAft>
                <a:spcPts val="0"/>
              </a:spcAft>
              <a:buNone/>
            </a:pPr>
            <a:r>
              <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Leads per Hour: </a:t>
            </a:r>
            <a:r>
              <a:rPr b="1" lang="en-US" sz="2800">
                <a:solidFill>
                  <a:schemeClr val="dk1"/>
                </a:solidFill>
              </a:rPr>
              <a:t>14.23</a:t>
            </a:r>
            <a:endParaRPr b="1"/>
          </a:p>
          <a:p>
            <a:pPr indent="-285750" lvl="1" marL="742950" rtl="0" algn="l">
              <a:spcBef>
                <a:spcPts val="560"/>
              </a:spcBef>
              <a:spcAft>
                <a:spcPts val="0"/>
              </a:spcAft>
              <a:buClr>
                <a:schemeClr val="dk1"/>
              </a:buClr>
              <a:buSzPts val="2800"/>
              <a:buChar char="–"/>
            </a:pPr>
            <a:r>
              <a:rPr b="1" lang="en-US" sz="2800">
                <a:solidFill>
                  <a:schemeClr val="dk1"/>
                </a:solidFill>
              </a:rPr>
              <a:t>AI synthesized outreach signals and generated personalized intros.</a:t>
            </a:r>
            <a:endParaRPr b="1"/>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Human retained final judgment and send authority.</a:t>
            </a:r>
            <a:endParaRPr/>
          </a:p>
        </p:txBody>
      </p:sp>
      <p:sp>
        <p:nvSpPr>
          <p:cNvPr id="107" name="Google Shape;107;p4"/>
          <p:cNvSpPr/>
          <p:nvPr/>
        </p:nvSpPr>
        <p:spPr>
          <a:xfrm>
            <a:off x="0" y="0"/>
            <a:ext cx="9144000" cy="274320"/>
          </a:xfrm>
          <a:prstGeom prst="rect">
            <a:avLst/>
          </a:prstGeom>
          <a:solidFill>
            <a:srgbClr val="1E3A8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457200" y="731663"/>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Efficiency Impact</a:t>
            </a:r>
            <a:endParaRPr/>
          </a:p>
        </p:txBody>
      </p:sp>
      <p:sp>
        <p:nvSpPr>
          <p:cNvPr id="113" name="Google Shape;113;p5"/>
          <p:cNvSpPr txBox="1"/>
          <p:nvPr>
            <p:ph idx="1" type="body"/>
          </p:nvPr>
        </p:nvSpPr>
        <p:spPr>
          <a:xfrm>
            <a:off x="457200" y="2332025"/>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Time Saved per Lead: </a:t>
            </a:r>
            <a:r>
              <a:rPr b="1" lang="en-US" sz="3200">
                <a:solidFill>
                  <a:schemeClr val="dk1"/>
                </a:solidFill>
              </a:rPr>
              <a:t>3</a:t>
            </a:r>
            <a:r>
              <a:rPr b="1" lang="en-US"/>
              <a:t>m 35s</a:t>
            </a:r>
            <a:r>
              <a:rPr lang="en-US"/>
              <a:t> (</a:t>
            </a:r>
            <a:r>
              <a:rPr lang="en-US" sz="3200">
                <a:solidFill>
                  <a:schemeClr val="dk1"/>
                </a:solidFill>
              </a:rPr>
              <a:t>215 seconds)</a:t>
            </a:r>
            <a:endParaRPr sz="3200">
              <a:solidFill>
                <a:schemeClr val="dk1"/>
              </a:solidFill>
            </a:endParaRPr>
          </a:p>
          <a:p>
            <a:pPr indent="0" lvl="0" marL="342900" rtl="0" algn="l">
              <a:spcBef>
                <a:spcPts val="0"/>
              </a:spcBef>
              <a:spcAft>
                <a:spcPts val="0"/>
              </a:spcAft>
              <a:buNone/>
            </a:pPr>
            <a:r>
              <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Processing Time Reduction: </a:t>
            </a:r>
            <a:r>
              <a:rPr b="1" lang="en-US" sz="2800">
                <a:solidFill>
                  <a:schemeClr val="dk1"/>
                </a:solidFill>
              </a:rPr>
              <a:t>45.94%</a:t>
            </a:r>
            <a:endParaRPr b="1"/>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Throughput Increase: </a:t>
            </a:r>
            <a:r>
              <a:rPr b="1" lang="en-US" sz="2800">
                <a:solidFill>
                  <a:schemeClr val="dk1"/>
                </a:solidFill>
              </a:rPr>
              <a:t>84.98%</a:t>
            </a:r>
            <a:endParaRPr b="1"/>
          </a:p>
          <a:p>
            <a:pPr indent="0" lvl="0" marL="742950" rtl="0" algn="l">
              <a:spcBef>
                <a:spcPts val="560"/>
              </a:spcBef>
              <a:spcAft>
                <a:spcPts val="0"/>
              </a:spcAft>
              <a:buNone/>
            </a:pPr>
            <a:r>
              <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Result: </a:t>
            </a:r>
            <a:r>
              <a:rPr b="1" lang="en-US" sz="2800">
                <a:solidFill>
                  <a:schemeClr val="dk1"/>
                </a:solidFill>
              </a:rPr>
              <a:t>Nearly doubled outreach capacity in </a:t>
            </a:r>
            <a:r>
              <a:rPr b="1" lang="en-US"/>
              <a:t>the same working time</a:t>
            </a:r>
            <a:endParaRPr b="1"/>
          </a:p>
        </p:txBody>
      </p:sp>
      <p:sp>
        <p:nvSpPr>
          <p:cNvPr id="114" name="Google Shape;114;p5"/>
          <p:cNvSpPr/>
          <p:nvPr/>
        </p:nvSpPr>
        <p:spPr>
          <a:xfrm>
            <a:off x="0" y="0"/>
            <a:ext cx="9144000" cy="274320"/>
          </a:xfrm>
          <a:prstGeom prst="rect">
            <a:avLst/>
          </a:prstGeom>
          <a:solidFill>
            <a:srgbClr val="1E3A8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type="title"/>
          </p:nvPr>
        </p:nvSpPr>
        <p:spPr>
          <a:xfrm>
            <a:off x="457200" y="897063"/>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sz="4400">
                <a:solidFill>
                  <a:schemeClr val="dk1"/>
                </a:solidFill>
              </a:rPr>
              <a:t>Throughput Comparison </a:t>
            </a:r>
            <a:endParaRPr b="1" sz="4400">
              <a:solidFill>
                <a:schemeClr val="dk1"/>
              </a:solidFill>
            </a:endParaRPr>
          </a:p>
          <a:p>
            <a:pPr indent="0" lvl="0" marL="0" rtl="0" algn="ctr">
              <a:spcBef>
                <a:spcPts val="0"/>
              </a:spcBef>
              <a:spcAft>
                <a:spcPts val="0"/>
              </a:spcAft>
              <a:buClr>
                <a:schemeClr val="dk1"/>
              </a:buClr>
              <a:buSzPct val="117857"/>
              <a:buFont typeface="Calibri"/>
              <a:buNone/>
            </a:pPr>
            <a:r>
              <a:rPr lang="en-US" sz="3733">
                <a:solidFill>
                  <a:schemeClr val="dk1"/>
                </a:solidFill>
                <a:latin typeface="Calibri"/>
                <a:ea typeface="Calibri"/>
                <a:cs typeface="Calibri"/>
                <a:sym typeface="Calibri"/>
              </a:rPr>
              <a:t>(Leads Per Hour)</a:t>
            </a:r>
            <a:endParaRPr sz="3733"/>
          </a:p>
        </p:txBody>
      </p:sp>
      <p:pic>
        <p:nvPicPr>
          <p:cNvPr descr="chart_leads_per_hour.png" id="120" name="Google Shape;120;p6"/>
          <p:cNvPicPr preferRelativeResize="0"/>
          <p:nvPr/>
        </p:nvPicPr>
        <p:blipFill rotWithShape="1">
          <a:blip r:embed="rId3">
            <a:alphaModFix/>
          </a:blip>
          <a:srcRect b="0" l="0" r="0" t="0"/>
          <a:stretch/>
        </p:blipFill>
        <p:spPr>
          <a:xfrm>
            <a:off x="2133600" y="2418425"/>
            <a:ext cx="4876800" cy="3657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type="title"/>
          </p:nvPr>
        </p:nvSpPr>
        <p:spPr>
          <a:xfrm>
            <a:off x="410050" y="84048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sz="4400">
                <a:solidFill>
                  <a:schemeClr val="dk1"/>
                </a:solidFill>
              </a:rPr>
              <a:t>Time Reduction Per Lead </a:t>
            </a:r>
            <a:r>
              <a:rPr lang="en-US" sz="4400">
                <a:solidFill>
                  <a:schemeClr val="dk1"/>
                </a:solidFill>
                <a:latin typeface="Calibri"/>
                <a:ea typeface="Calibri"/>
                <a:cs typeface="Calibri"/>
                <a:sym typeface="Calibri"/>
              </a:rPr>
              <a:t>(Seconds)</a:t>
            </a:r>
            <a:endParaRPr/>
          </a:p>
        </p:txBody>
      </p:sp>
      <p:pic>
        <p:nvPicPr>
          <p:cNvPr descr="chart_time_per_lead.png" id="126" name="Google Shape;126;p7"/>
          <p:cNvPicPr preferRelativeResize="0"/>
          <p:nvPr/>
        </p:nvPicPr>
        <p:blipFill rotWithShape="1">
          <a:blip r:embed="rId3">
            <a:alphaModFix/>
          </a:blip>
          <a:srcRect b="0" l="0" r="0" t="0"/>
          <a:stretch/>
        </p:blipFill>
        <p:spPr>
          <a:xfrm>
            <a:off x="2133600" y="2483325"/>
            <a:ext cx="4876800" cy="3657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idx="1" type="body"/>
          </p:nvPr>
        </p:nvSpPr>
        <p:spPr>
          <a:xfrm>
            <a:off x="457200" y="2332025"/>
            <a:ext cx="8229600" cy="4526100"/>
          </a:xfrm>
          <a:prstGeom prst="rect">
            <a:avLst/>
          </a:prstGeom>
          <a:noFill/>
          <a:ln>
            <a:noFill/>
          </a:ln>
        </p:spPr>
        <p:txBody>
          <a:bodyPr anchorCtr="0" anchor="t" bIns="45700" lIns="91425" spcFirstLastPara="1" rIns="91425" wrap="square" tIns="45700">
            <a:normAutofit/>
          </a:bodyPr>
          <a:lstStyle/>
          <a:p>
            <a:pPr indent="-406400" lvl="0" marL="457200" rtl="0" algn="l">
              <a:spcBef>
                <a:spcPts val="0"/>
              </a:spcBef>
              <a:spcAft>
                <a:spcPts val="0"/>
              </a:spcAft>
              <a:buClr>
                <a:schemeClr val="dk1"/>
              </a:buClr>
              <a:buSzPts val="2800"/>
              <a:buChar char="-"/>
            </a:pPr>
            <a:r>
              <a:rPr lang="en-US" sz="2800">
                <a:solidFill>
                  <a:schemeClr val="dk1"/>
                </a:solidFill>
                <a:latin typeface="Calibri"/>
                <a:ea typeface="Calibri"/>
                <a:cs typeface="Calibri"/>
                <a:sym typeface="Calibri"/>
              </a:rPr>
              <a:t>Manual Output: </a:t>
            </a:r>
            <a:r>
              <a:rPr b="1" lang="en-US" sz="2800">
                <a:solidFill>
                  <a:schemeClr val="dk1"/>
                </a:solidFill>
              </a:rPr>
              <a:t>38.46</a:t>
            </a:r>
            <a:r>
              <a:rPr lang="en-US" sz="2800">
                <a:solidFill>
                  <a:schemeClr val="dk1"/>
                </a:solidFill>
                <a:latin typeface="Calibri"/>
                <a:ea typeface="Calibri"/>
                <a:cs typeface="Calibri"/>
                <a:sym typeface="Calibri"/>
              </a:rPr>
              <a:t> churches</a:t>
            </a:r>
            <a:endParaRPr sz="2800"/>
          </a:p>
          <a:p>
            <a:pPr indent="-406400" lvl="0" marL="457200" rtl="0" algn="l">
              <a:spcBef>
                <a:spcPts val="0"/>
              </a:spcBef>
              <a:spcAft>
                <a:spcPts val="0"/>
              </a:spcAft>
              <a:buClr>
                <a:schemeClr val="dk1"/>
              </a:buClr>
              <a:buSzPts val="2800"/>
              <a:buChar char="-"/>
            </a:pPr>
            <a:r>
              <a:rPr lang="en-US" sz="2800">
                <a:solidFill>
                  <a:schemeClr val="dk1"/>
                </a:solidFill>
                <a:latin typeface="Calibri"/>
                <a:ea typeface="Calibri"/>
                <a:cs typeface="Calibri"/>
                <a:sym typeface="Calibri"/>
              </a:rPr>
              <a:t>AI-Assisted Output: </a:t>
            </a:r>
            <a:r>
              <a:rPr b="1" lang="en-US" sz="2800">
                <a:solidFill>
                  <a:schemeClr val="dk1"/>
                </a:solidFill>
              </a:rPr>
              <a:t>71.15</a:t>
            </a:r>
            <a:r>
              <a:rPr lang="en-US" sz="2800">
                <a:solidFill>
                  <a:schemeClr val="dk1"/>
                </a:solidFill>
                <a:latin typeface="Calibri"/>
                <a:ea typeface="Calibri"/>
                <a:cs typeface="Calibri"/>
                <a:sym typeface="Calibri"/>
              </a:rPr>
              <a:t> churches</a:t>
            </a:r>
            <a:endParaRPr sz="2800"/>
          </a:p>
          <a:p>
            <a:pPr indent="0" lvl="0" marL="0" rtl="0" algn="l">
              <a:spcBef>
                <a:spcPts val="560"/>
              </a:spcBef>
              <a:spcAft>
                <a:spcPts val="0"/>
              </a:spcAft>
              <a:buNone/>
            </a:pPr>
            <a:r>
              <a:t/>
            </a:r>
            <a:endParaRPr/>
          </a:p>
          <a:p>
            <a:pPr indent="0" lvl="0" marL="0" rtl="0" algn="l">
              <a:spcBef>
                <a:spcPts val="560"/>
              </a:spcBef>
              <a:spcAft>
                <a:spcPts val="0"/>
              </a:spcAft>
              <a:buNone/>
            </a:pPr>
            <a:r>
              <a:rPr lang="en-US">
                <a:solidFill>
                  <a:schemeClr val="dk1"/>
                </a:solidFill>
                <a:latin typeface="Calibri"/>
                <a:ea typeface="Calibri"/>
                <a:cs typeface="Calibri"/>
                <a:sym typeface="Calibri"/>
              </a:rPr>
              <a:t>Net Gain: </a:t>
            </a:r>
            <a:r>
              <a:rPr b="1" lang="en-US">
                <a:solidFill>
                  <a:schemeClr val="dk1"/>
                </a:solidFill>
              </a:rPr>
              <a:t>+32.69</a:t>
            </a:r>
            <a:r>
              <a:rPr lang="en-US">
                <a:solidFill>
                  <a:schemeClr val="dk1"/>
                </a:solidFill>
                <a:latin typeface="Calibri"/>
                <a:ea typeface="Calibri"/>
                <a:cs typeface="Calibri"/>
                <a:sym typeface="Calibri"/>
              </a:rPr>
              <a:t> additional churches</a:t>
            </a:r>
            <a:endParaRPr/>
          </a:p>
          <a:p>
            <a:pPr indent="0" lvl="0" marL="0" rtl="0" algn="l">
              <a:spcBef>
                <a:spcPts val="560"/>
              </a:spcBef>
              <a:spcAft>
                <a:spcPts val="0"/>
              </a:spcAft>
              <a:buNone/>
            </a:pPr>
            <a:r>
              <a:rPr lang="en-US"/>
              <a:t>: </a:t>
            </a:r>
            <a:r>
              <a:rPr lang="en-US" sz="2300">
                <a:solidFill>
                  <a:schemeClr val="dk1"/>
                </a:solidFill>
                <a:latin typeface="Calibri"/>
                <a:ea typeface="Calibri"/>
                <a:cs typeface="Calibri"/>
                <a:sym typeface="Calibri"/>
              </a:rPr>
              <a:t>Same operator. Same time. Materially higher yield.</a:t>
            </a:r>
            <a:endParaRPr sz="2300"/>
          </a:p>
        </p:txBody>
      </p:sp>
      <p:sp>
        <p:nvSpPr>
          <p:cNvPr id="132" name="Google Shape;132;p8"/>
          <p:cNvSpPr txBox="1"/>
          <p:nvPr>
            <p:ph type="title"/>
          </p:nvPr>
        </p:nvSpPr>
        <p:spPr>
          <a:xfrm>
            <a:off x="457200" y="731663"/>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5-Hour Capacity Modeling</a:t>
            </a:r>
            <a:endParaRPr/>
          </a:p>
        </p:txBody>
      </p:sp>
      <p:sp>
        <p:nvSpPr>
          <p:cNvPr id="133" name="Google Shape;133;p8"/>
          <p:cNvSpPr/>
          <p:nvPr/>
        </p:nvSpPr>
        <p:spPr>
          <a:xfrm>
            <a:off x="0" y="0"/>
            <a:ext cx="9144000" cy="274320"/>
          </a:xfrm>
          <a:prstGeom prst="rect">
            <a:avLst/>
          </a:prstGeom>
          <a:solidFill>
            <a:srgbClr val="1E3A8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457200" y="731663"/>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Operational Insight &amp; Next Phase</a:t>
            </a:r>
            <a:endParaRPr/>
          </a:p>
        </p:txBody>
      </p:sp>
      <p:sp>
        <p:nvSpPr>
          <p:cNvPr id="139" name="Google Shape;139;p9"/>
          <p:cNvSpPr txBox="1"/>
          <p:nvPr>
            <p:ph idx="1" type="body"/>
          </p:nvPr>
        </p:nvSpPr>
        <p:spPr>
          <a:xfrm>
            <a:off x="457200" y="2332025"/>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Remaining constraint: </a:t>
            </a:r>
            <a:r>
              <a:rPr b="1" lang="en-US" sz="3200">
                <a:solidFill>
                  <a:schemeClr val="dk1"/>
                </a:solidFill>
              </a:rPr>
              <a:t>inconsistent website architecture.</a:t>
            </a:r>
            <a:endParaRPr b="1"/>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AI eliminated drafting bottleneck; data retrieval now limits scale.</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Next iteration: </a:t>
            </a:r>
            <a:r>
              <a:rPr b="1" lang="en-US" sz="2800">
                <a:solidFill>
                  <a:schemeClr val="dk1"/>
                </a:solidFill>
              </a:rPr>
              <a:t>structured scraping + signal classification.</a:t>
            </a:r>
            <a:endParaRPr b="1"/>
          </a:p>
        </p:txBody>
      </p:sp>
      <p:sp>
        <p:nvSpPr>
          <p:cNvPr id="140" name="Google Shape;140;p9"/>
          <p:cNvSpPr/>
          <p:nvPr/>
        </p:nvSpPr>
        <p:spPr>
          <a:xfrm>
            <a:off x="0" y="0"/>
            <a:ext cx="9144000" cy="274320"/>
          </a:xfrm>
          <a:prstGeom prst="rect">
            <a:avLst/>
          </a:prstGeom>
          <a:solidFill>
            <a:srgbClr val="1E3A8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